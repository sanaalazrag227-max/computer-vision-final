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8" d="100"/>
          <a:sy n="58" d="100"/>
        </p:scale>
        <p:origin x="80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4419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785079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878876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92585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89473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5549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98003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604048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231001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85883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178433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033463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8918201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945600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0356489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187994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34506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872725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5770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7/12/2026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1993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4pPr>
      <a:lvl5pPr marL="21145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10"/>
          <p:cNvSpPr/>
          <p:nvPr/>
        </p:nvSpPr>
        <p:spPr>
          <a:xfrm>
            <a:off x="731520" y="1737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PAR ORDINATEUR — MINI-PROJET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2194560"/>
            <a:ext cx="9601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Détection d'objets</a:t>
            </a:r>
            <a:endParaRPr lang="en-US" sz="46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avec YOLOv8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731520" y="3977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Only Look Once — inférence en temps réel sur un jeu d'images personnalisé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5577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 par Sanaa Lazrag  ·  ENSA Fès — IDIA  ·  2025-2026</a:t>
            </a:r>
            <a:endParaRPr lang="en-US" sz="1200" dirty="0"/>
          </a:p>
        </p:txBody>
      </p:sp>
      <p:pic>
        <p:nvPicPr>
          <p:cNvPr id="18" name="Image 17" descr="computer vision définition">
            <a:extLst>
              <a:ext uri="{FF2B5EF4-FFF2-40B4-BE49-F238E27FC236}">
                <a16:creationId xmlns:a16="http://schemas.microsoft.com/office/drawing/2014/main" id="{5D2A2D31-269D-C6CF-9A57-804BE9D40A4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LightScreen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45680" y="937260"/>
            <a:ext cx="4114800" cy="2057400"/>
          </a:xfrm>
          <a:prstGeom prst="rect">
            <a:avLst/>
          </a:prstGeom>
          <a:effectLst>
            <a:reflection blurRad="6350" stA="50000" endA="300" endPos="55500" dist="50800" dir="5400000" sy="-100000" algn="bl" rotWithShape="0"/>
          </a:effectLst>
          <a:scene3d>
            <a:camera prst="orthographicFront">
              <a:rot lat="300000" lon="21299997" rev="21299999"/>
            </a:camera>
            <a:lightRig rig="threePt" dir="t"/>
          </a:scene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 du mini-projet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6492240" cy="4206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08080">
                <a:alpha val="2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365760" cy="457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85800" y="1554480"/>
            <a:ext cx="45720" cy="3657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005840" y="1965960"/>
            <a:ext cx="5760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Réaliser un système de </a:t>
            </a:r>
            <a:r>
              <a:rPr lang="en-US" sz="17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d'objets</a:t>
            </a:r>
            <a:r>
              <a:rPr lang="en-US" sz="17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l'aide du modèle pré-entraîné YOLOv8, afin d'identifier automatiquement les objets présents dans des images, et d'évaluer les performances du modèle sur un jeu d'images de test personnalisé.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406640" y="1417320"/>
            <a:ext cx="4206240" cy="4206240"/>
          </a:xfrm>
          <a:prstGeom prst="rect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8" name="Text 6"/>
          <p:cNvSpPr/>
          <p:nvPr/>
        </p:nvSpPr>
        <p:spPr>
          <a:xfrm>
            <a:off x="7406640" y="1828800"/>
            <a:ext cx="4206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</a:t>
            </a:r>
            <a:endParaRPr lang="en-US" sz="6600" dirty="0"/>
          </a:p>
        </p:txBody>
      </p:sp>
      <p:sp>
        <p:nvSpPr>
          <p:cNvPr id="9" name="Text 7"/>
          <p:cNvSpPr/>
          <p:nvPr/>
        </p:nvSpPr>
        <p:spPr>
          <a:xfrm>
            <a:off x="7772400" y="28803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d'objets (dataset COCO)</a:t>
            </a:r>
            <a:endParaRPr lang="en-US" sz="13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personnes, animaux, véhicules, objets du quotidien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63840" y="3931920"/>
            <a:ext cx="3291840" cy="0"/>
          </a:xfrm>
          <a:prstGeom prst="line">
            <a:avLst/>
          </a:prstGeom>
          <a:noFill/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7772400" y="411480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D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: YOLOv8 Nano (yolov8n.pt)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D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passe réseau → temps réel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Mini-Projet — Détection d'objets avec YOLOv8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chemeClr val="accent6">
              <a:lumMod val="75000"/>
            </a:scheme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</a:t>
            </a:r>
            <a:endParaRPr lang="en-US" sz="3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utilisées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stack logicielle mobilisée pour l'inférence et le traitement d'image.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17720" y="640080"/>
            <a:ext cx="411480" cy="4114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617720" y="640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212080" y="59436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12080" y="987552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Langage principal du script de détection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17720" y="1920240"/>
            <a:ext cx="411480" cy="4114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617720" y="1920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12080" y="187452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Ultralytics YOLOv8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12080" y="2267712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Bibliothèque officielle pour l'inférence et l'entraînement des modèles YOLO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17720" y="3200400"/>
            <a:ext cx="411480" cy="4114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617720" y="3200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12080" y="315468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12080" y="3547872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et manipulation d'images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617720" y="4480560"/>
            <a:ext cx="411480" cy="4114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617720" y="4480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12080" y="443484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Nano (yolov8n.pt)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212080" y="4828032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pré-entraîné sur COCO — 80 classes d'objets courants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Mini-Projet — Détection d'objets avec YOLOv8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Fonctionnement du modèle YOLO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Only Look Once : une seule passe dans le réseau pour toute l'image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06040" cy="42976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0808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731520" y="2377440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 unique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2606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L'image entière traverse le réseau de neurones en une seule fois, contrairement aux approches plus anciennes qui analysaient plusieurs régions séparément.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37560" y="1599649"/>
            <a:ext cx="2606040" cy="4206791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0808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566160" y="16916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3566160" y="2377440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566160" y="28803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&amp; prédictions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566160" y="3474720"/>
            <a:ext cx="2240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L'image est divisée en une grille ; chaque cellule prédit simultanément des bounding boxes, une classe d'objet et un score de confiance.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1508760"/>
            <a:ext cx="2423160" cy="42976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0808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400800" y="16916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0" y="2377440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400800" y="28803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Non-Max Suppression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00800" y="3474720"/>
            <a:ext cx="2240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post-traitement (NMS) élimine les boîtes redondantes détectant le même objet, ne conservant que la détection la plus confiante.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880146" y="1541260"/>
            <a:ext cx="2606040" cy="42976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0808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9235440" y="16916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235440" y="2377440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9235440" y="28803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réel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235440" y="3474720"/>
            <a:ext cx="2240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approche en une seule passe rend YOLO particulièrement rapide, adapté à la détection en temps réel (vidéo, webcam).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Mini-Projet — Détection d'objets avec YOLOv8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et explication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5212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D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 automatiquement toutes les images d'un dossier</a:t>
            </a:r>
            <a:endParaRPr lang="en-US" sz="135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D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du modèle, du dossier d'images et du seuil de confiance en ligne de commande (argparse), sans modifier le code</a:t>
            </a:r>
            <a:endParaRPr lang="en-US" sz="135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D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un résumé global : nombre d'images traitées, objets détectés, répartition par classe</a:t>
            </a:r>
            <a:endParaRPr lang="en-US" sz="135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D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 les résultats détaillés dans un fichier CSV (resultats_detection.csv)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4297680"/>
            <a:ext cx="5212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i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est chargé une seule fois puis réutilisé pour chaque image. Pour chaque image, model.predict() renvoie un objet Results contenant les boîtes détectées, dont on extrait classe et confiance.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35040" y="1143000"/>
            <a:ext cx="5577840" cy="5029200"/>
          </a:xfrm>
          <a:prstGeom prst="rect">
            <a:avLst/>
          </a:prstGeom>
          <a:solidFill>
            <a:schemeClr val="accent6">
              <a:lumMod val="75000"/>
            </a:scheme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6263640" y="1325880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6492240" y="1325880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6720840" y="1325880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309360" y="1691640"/>
            <a:ext cx="512064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5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YOLO(args.model)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5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5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chemin_image in image_paths: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5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results = model.predict(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5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source=chemin_image,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5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save=True,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5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conf=args.conf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5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5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result in results: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5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box in result.boxes: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5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classe_id = int(box.cls[0])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5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confiance = float(box.conf[0])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5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nom_classe = model.names[classe_id]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Mini-Projet — Détection d'objets avec YOLOv8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obtenus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exécuté sur un jeu de 4 images (chat.jpg, chien.jpg, test.jpg, voiture.jpg)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6509426"/>
              </p:ext>
            </p:extLst>
          </p:nvPr>
        </p:nvGraphicFramePr>
        <p:xfrm>
          <a:off x="548640" y="1463040"/>
          <a:ext cx="6400800" cy="27432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 détecté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Confiance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chat.jpg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79.68 %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B23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chat.jpg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B23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 (2e détection)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B23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25.51 %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chien.jpg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81.29 %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test.jpg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87.69 %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voiture.jpg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95.11 %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1463040"/>
            <a:ext cx="4297680" cy="2743200"/>
          </a:xfrm>
          <a:prstGeom prst="rect">
            <a:avLst/>
          </a:prstGeom>
          <a:solidFill>
            <a:schemeClr val="accent6">
              <a:lumMod val="75000"/>
            </a:schemeClr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6" name="Text 3"/>
          <p:cNvSpPr/>
          <p:nvPr/>
        </p:nvSpPr>
        <p:spPr>
          <a:xfrm>
            <a:off x="7315200" y="169164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600" dirty="0"/>
          </a:p>
        </p:txBody>
      </p:sp>
      <p:sp>
        <p:nvSpPr>
          <p:cNvPr id="4" name="Text 4"/>
          <p:cNvSpPr/>
          <p:nvPr/>
        </p:nvSpPr>
        <p:spPr>
          <a:xfrm>
            <a:off x="7589520" y="26060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objets détectés au total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772400" y="3108960"/>
            <a:ext cx="3383280" cy="0"/>
          </a:xfrm>
          <a:prstGeom prst="line">
            <a:avLst/>
          </a:prstGeom>
          <a:noFill/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7589520" y="324612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50" dirty="0">
                <a:solidFill>
                  <a:srgbClr val="D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cat · 1 dog · 1 person · 1 car</a:t>
            </a:r>
            <a:endParaRPr lang="en-US" sz="12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50" dirty="0">
                <a:solidFill>
                  <a:srgbClr val="D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4 images traitées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8640" y="44348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 global : 4 images traitées, 5 objets détectés au total.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Mini-Projet — Détection d'objets avec YOLOv8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Détections annotées — chats et chien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6400800" cy="5074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0808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4" name="Image 0" descr="/home/claude/yolo_media/image1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1417320"/>
            <a:ext cx="6035040" cy="4023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5532120"/>
            <a:ext cx="6126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chatons détectés (classe "cat") — dont une détection secondaire à faible confiance (25.51 %)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7223760" y="1234440"/>
            <a:ext cx="4389120" cy="5074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0808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7" name="Image 1" descr="/home/claude/yolo_media/image2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863840" y="1417320"/>
            <a:ext cx="3108960" cy="41605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269480" y="566928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Chiot correctement identifié ("dog", 81.29 %)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Mini-Projet — Détection d'objets avec YOLOv8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Détections annotées — personne et véhicule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4389120" cy="5074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0808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4" name="Image 0" descr="/home/claude/yolo_media/image3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88720" y="1417320"/>
            <a:ext cx="3108960" cy="4160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566928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 correctement identifiée ("person", 87.69 %)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212080" y="1234440"/>
            <a:ext cx="6400800" cy="5074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0808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7" name="Image 1" descr="/home/claude/yolo_media/image4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394960" y="1417320"/>
            <a:ext cx="6035040" cy="40233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49240" y="5532120"/>
            <a:ext cx="6126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 correctement identifié ("car", 95.11 %)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Mini-Projet — Détection d'objets avec YOLOv8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349240" cy="2148840"/>
          </a:xfrm>
          <a:prstGeom prst="rect">
            <a:avLst/>
          </a:prstGeom>
          <a:solidFill>
            <a:schemeClr val="accent6">
              <a:lumMod val="75000"/>
            </a:scheme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91440" cy="21488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performance globale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1874520"/>
            <a:ext cx="4800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détecte correctement l'objet principal dans les 4 images, avec un bon niveau de confiance (plus de 79 % pour 4 détections sur 5).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188720"/>
            <a:ext cx="5349240" cy="2148840"/>
          </a:xfrm>
          <a:prstGeom prst="rect">
            <a:avLst/>
          </a:prstGeom>
          <a:solidFill>
            <a:schemeClr val="accent6">
              <a:lumMod val="75000"/>
            </a:scheme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6172200" y="1188720"/>
            <a:ext cx="91440" cy="21488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492240" y="137160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sur les objets multiples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0" y="1874520"/>
            <a:ext cx="4800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chat.jpg (3 chatons), seulement deux sont détectés, dont un à faible confiance (25.51 %) — YOLO peine face à des objets proches ou qui se chevauchent.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611880"/>
            <a:ext cx="5349240" cy="2148840"/>
          </a:xfrm>
          <a:prstGeom prst="rect">
            <a:avLst/>
          </a:prstGeom>
          <a:solidFill>
            <a:schemeClr val="accent6">
              <a:lumMod val="75000"/>
            </a:scheme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548640" y="3611880"/>
            <a:ext cx="91440" cy="21488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868680" y="379476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 vitesse / précision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" y="4297680"/>
            <a:ext cx="4800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Nano est rapide et léger, mais moins précis que les versions plus grandes (YOLOv8s, YOLOv8m).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2200" y="3611880"/>
            <a:ext cx="5349240" cy="2148840"/>
          </a:xfrm>
          <a:prstGeom prst="rect">
            <a:avLst/>
          </a:prstGeom>
          <a:solidFill>
            <a:schemeClr val="accent6">
              <a:lumMod val="75000"/>
            </a:scheme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6172200" y="3611880"/>
            <a:ext cx="91440" cy="21488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492240" y="379476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du dataset COCO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92240" y="4297680"/>
            <a:ext cx="4800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Entraîné sur 80 classes seulement — incapable de reconnaître un objet hors de ces classes sans réentraînement.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Mini-Projet — Détection d'objets avec YOLOv8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Propositions d'amélioration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10642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5400000" algn="bl" rotWithShape="0">
              <a:srgbClr val="80808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777240" y="1463040"/>
            <a:ext cx="411480" cy="4114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17320" y="128016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Augmenter le nombre d'images de test pour une évaluation plus représentative (actuellement 4 images seulement)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110642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5400000" algn="bl" rotWithShape="0">
              <a:srgbClr val="80808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777240" y="2423160"/>
            <a:ext cx="411480" cy="4114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777240" y="2423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224028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un modèle plus grand (yolov8s.pt ou yolov8m.pt) pour comparer la précision sur les cas difficiles (3 chatons)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110642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5400000" algn="bl" rotWithShape="0">
              <a:srgbClr val="80808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777240" y="3383280"/>
            <a:ext cx="411480" cy="4114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777240" y="3383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320040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Ajuster le seuil de confiance (conf) et le seuil IoU du NMS pour réduire les détections redondantes à faible confiance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110642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5400000" algn="bl" rotWithShape="0">
              <a:srgbClr val="80808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777240" y="4343400"/>
            <a:ext cx="411480" cy="4114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777240" y="4343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17320" y="416052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Effectuer un fine-tuning sur un dataset personnalisé pour détecter des objets hors des 80 classes COCO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120640"/>
            <a:ext cx="110642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5400000" algn="bl" rotWithShape="0">
              <a:srgbClr val="80808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777240" y="5303520"/>
            <a:ext cx="411480" cy="4114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777240" y="5303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512064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Étendre le script pour traiter des vidéos ou un flux webcam en temps réel (déjà supporté par Ultralytics YOLO)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Mini-Projet — Détection d'objets avec YOLOv8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0881360" y="-1463040"/>
            <a:ext cx="3291840" cy="3291840"/>
          </a:xfrm>
          <a:prstGeom prst="ellipse">
            <a:avLst/>
          </a:prstGeom>
          <a:solidFill>
            <a:srgbClr val="FF6B35">
              <a:alpha val="4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65836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50" dirty="0">
                <a:solidFill>
                  <a:srgbClr val="D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mini-projet a permis de mettre en œuvre un pipeline complet de détection d'objets avec YOLOv8 : chargement d'un modèle pré-entraîné, traitement automatisé d'images, extraction et analyse des résultats.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6583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performance globale</a:t>
            </a:r>
            <a:r>
              <a:rPr lang="en-US" sz="1400" dirty="0">
                <a:solidFill>
                  <a:srgbClr val="D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avec des limites attendues sur les scènes contenant plusieurs instances similaires d'un même objet — ouvrant des pistes concrètes via un modèle plus précis ou un fine-tuning ciblé.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863840" y="1554480"/>
            <a:ext cx="3749040" cy="4480560"/>
          </a:xfrm>
          <a:prstGeom prst="rect">
            <a:avLst/>
          </a:prstGeom>
          <a:solidFill>
            <a:srgbClr val="262B3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8138160" y="18288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4/4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138160" y="25146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avec objet principal détecté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38160" y="32461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79%+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138160" y="39319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confiance pour 4 détections sur 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38160" y="46634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8138160" y="53492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COCO couvertes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Mini-Projet — Détection d'objets avec YOLOv8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cteur">
  <a:themeElements>
    <a:clrScheme name="Secteur">
      <a:dk1>
        <a:sysClr val="windowText" lastClr="000000"/>
      </a:dk1>
      <a:lt1>
        <a:sysClr val="window" lastClr="FFFFFF"/>
      </a:lt1>
      <a:dk2>
        <a:srgbClr val="D06F1E"/>
      </a:dk2>
      <a:lt2>
        <a:srgbClr val="F0BE21"/>
      </a:lt2>
      <a:accent1>
        <a:srgbClr val="760603"/>
      </a:accent1>
      <a:accent2>
        <a:srgbClr val="9F761A"/>
      </a:accent2>
      <a:accent3>
        <a:srgbClr val="92A200"/>
      </a:accent3>
      <a:accent4>
        <a:srgbClr val="4AA157"/>
      </a:accent4>
      <a:accent5>
        <a:srgbClr val="46788D"/>
      </a:accent5>
      <a:accent6>
        <a:srgbClr val="A848A8"/>
      </a:accent6>
      <a:hlink>
        <a:srgbClr val="460402"/>
      </a:hlink>
      <a:folHlink>
        <a:srgbClr val="991111"/>
      </a:folHlink>
    </a:clrScheme>
    <a:fontScheme name="Secteur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cteur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162000"/>
                <a:satMod val="200000"/>
                <a:lumMod val="124000"/>
              </a:schemeClr>
            </a:gs>
            <a:gs pos="100000">
              <a:schemeClr val="phClr">
                <a:shade val="96000"/>
                <a:hueMod val="88000"/>
                <a:satMod val="220000"/>
                <a:lumMod val="82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142000"/>
                <a:satMod val="200000"/>
                <a:lumMod val="118000"/>
              </a:schemeClr>
            </a:gs>
            <a:gs pos="100000">
              <a:schemeClr val="phClr">
                <a:shade val="92000"/>
                <a:hueMod val="22000"/>
                <a:satMod val="220000"/>
                <a:lumMod val="62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282EB108-EDE6-4B8E-957B-D4A69BF580E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TM03090430[[fn=À bandes]]</Template>
  <TotalTime>14</TotalTime>
  <Words>1028</Words>
  <Application>Microsoft Office PowerPoint</Application>
  <PresentationFormat>Grand écran</PresentationFormat>
  <Paragraphs>152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7" baseType="lpstr">
      <vt:lpstr>Calibri</vt:lpstr>
      <vt:lpstr>Cambria</vt:lpstr>
      <vt:lpstr>Century Gothic</vt:lpstr>
      <vt:lpstr>Courier New</vt:lpstr>
      <vt:lpstr>Wingdings 3</vt:lpstr>
      <vt:lpstr>Secteur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Sanaa lazrag</cp:lastModifiedBy>
  <cp:revision>9</cp:revision>
  <dcterms:created xsi:type="dcterms:W3CDTF">2026-07-12T15:22:28Z</dcterms:created>
  <dcterms:modified xsi:type="dcterms:W3CDTF">2026-07-12T15:39:16Z</dcterms:modified>
</cp:coreProperties>
</file>