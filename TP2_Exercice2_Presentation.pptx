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1893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ABE07-A307-42BC-9F87-32A6E5574895}" type="datetimeFigureOut">
              <a:rPr lang="fr-FR" smtClean="0"/>
              <a:t>12/07/2026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AFD2F-C9F9-48B6-ABA3-A866584690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265470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ABE07-A307-42BC-9F87-32A6E5574895}" type="datetimeFigureOut">
              <a:rPr lang="fr-FR" smtClean="0"/>
              <a:t>12/07/2026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AFD2F-C9F9-48B6-ABA3-A866584690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492133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ABE07-A307-42BC-9F87-32A6E5574895}" type="datetimeFigureOut">
              <a:rPr lang="fr-FR" smtClean="0"/>
              <a:t>12/07/2026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AFD2F-C9F9-48B6-ABA3-A866584690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662550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ABE07-A307-42BC-9F87-32A6E5574895}" type="datetimeFigureOut">
              <a:rPr lang="fr-FR" smtClean="0"/>
              <a:t>12/07/2026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AFD2F-C9F9-48B6-ABA3-A866584690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903745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ABE07-A307-42BC-9F87-32A6E5574895}" type="datetimeFigureOut">
              <a:rPr lang="fr-FR" smtClean="0"/>
              <a:t>12/07/2026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AFD2F-C9F9-48B6-ABA3-A866584690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120886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ABE07-A307-42BC-9F87-32A6E5574895}" type="datetimeFigureOut">
              <a:rPr lang="fr-FR" smtClean="0"/>
              <a:t>12/07/2026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AFD2F-C9F9-48B6-ABA3-A866584690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274586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ABE07-A307-42BC-9F87-32A6E5574895}" type="datetimeFigureOut">
              <a:rPr lang="fr-FR" smtClean="0"/>
              <a:t>12/07/2026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AFD2F-C9F9-48B6-ABA3-A866584690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0589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ABE07-A307-42BC-9F87-32A6E5574895}" type="datetimeFigureOut">
              <a:rPr lang="fr-FR" smtClean="0"/>
              <a:t>12/07/2026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AFD2F-C9F9-48B6-ABA3-A866584690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501012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ABE07-A307-42BC-9F87-32A6E5574895}" type="datetimeFigureOut">
              <a:rPr lang="fr-FR" smtClean="0"/>
              <a:t>12/07/2026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AFD2F-C9F9-48B6-ABA3-A866584690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427539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ABE07-A307-42BC-9F87-32A6E5574895}" type="datetimeFigureOut">
              <a:rPr lang="fr-FR" smtClean="0"/>
              <a:t>12/07/2026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AFD2F-C9F9-48B6-ABA3-A866584690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647150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ABE07-A307-42BC-9F87-32A6E5574895}" type="datetimeFigureOut">
              <a:rPr lang="fr-FR" smtClean="0"/>
              <a:t>12/07/2026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AFD2F-C9F9-48B6-ABA3-A866584690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157745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3144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ED5ABE07-A307-42BC-9F87-32A6E5574895}" type="datetimeFigureOut">
              <a:rPr lang="fr-FR" smtClean="0"/>
              <a:t>12/07/2026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5DDAFD2F-C9F9-48B6-ABA3-A866584690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926403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31520" y="1417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6FD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PAR ORDINATEUR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8961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binaire chat vs chien</a:t>
            </a:r>
            <a:endParaRPr lang="en-US" sz="4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 transfert learning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7033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de VGG16, MobileNetV2, ResNet50 et EfficientNetB0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4343400"/>
            <a:ext cx="1097280" cy="0"/>
          </a:xfrm>
          <a:prstGeom prst="line">
            <a:avLst/>
          </a:prstGeom>
          <a:noFill/>
          <a:ln w="38100">
            <a:solidFill>
              <a:srgbClr val="6FD8C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731520" y="6126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TP2 — Réseaux de neurones convolutifs (Partie 2)  ·  ENSA Fès — IDIA</a:t>
            </a:r>
            <a:endParaRPr lang="en-US" sz="1200" dirty="0"/>
          </a:p>
        </p:txBody>
      </p:sp>
      <p:pic>
        <p:nvPicPr>
          <p:cNvPr id="9" name="Image 8" descr="computer vision définition">
            <a:extLst>
              <a:ext uri="{FF2B5EF4-FFF2-40B4-BE49-F238E27FC236}">
                <a16:creationId xmlns:a16="http://schemas.microsoft.com/office/drawing/2014/main" id="{38DAA0B2-D818-E3B1-175D-1E9F94F989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4105436"/>
            <a:ext cx="4114800" cy="2057400"/>
          </a:xfrm>
          <a:prstGeom prst="rect">
            <a:avLst/>
          </a:prstGeom>
          <a:effectLst>
            <a:reflection blurRad="6350" stA="50000" endA="300" endPos="55500" dist="50800" dir="5400000" sy="-100000" algn="bl" rotWithShape="0"/>
          </a:effectLst>
          <a:scene3d>
            <a:camera prst="orthographicFront">
              <a:rot lat="300000" lon="21299997" rev="21299999"/>
            </a:camera>
            <a:lightRig rig="threePt" dir="t"/>
          </a:scene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 de l'exercice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492240" cy="4297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08080">
                <a:alpha val="2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5760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Développer un modèle de classification binaire capable de distinguer des images de </a:t>
            </a:r>
            <a:r>
              <a:rPr lang="en-US" sz="17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chats et de chiens</a:t>
            </a:r>
            <a:r>
              <a:rPr lang="en-US" sz="17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en s'appuyant sur le transfert learning.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914400" y="3246120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417320" y="317296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VGG16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3931920"/>
            <a:ext cx="320040" cy="320040"/>
          </a:xfrm>
          <a:prstGeom prst="ellipse">
            <a:avLst/>
          </a:prstGeom>
          <a:solidFill>
            <a:srgbClr val="6FD8C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1417320" y="385876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4617720"/>
            <a:ext cx="320040" cy="320040"/>
          </a:xfrm>
          <a:prstGeom prst="ellipse">
            <a:avLst/>
          </a:prstGeom>
          <a:solidFill>
            <a:srgbClr val="1331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1417320" y="454456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4400" y="5303520"/>
            <a:ext cx="320040" cy="320040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1417320" y="523036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EfficientNetB0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206240" y="338328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pré-entraînées sur ImageNet, comparées entre elles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06640" y="1371600"/>
            <a:ext cx="4206240" cy="4297680"/>
          </a:xfrm>
          <a:prstGeom prst="rect">
            <a:avLst/>
          </a:prstGeom>
          <a:solidFill>
            <a:schemeClr val="tx2">
              <a:lumMod val="50000"/>
            </a:schemeClr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5" name="Text 13"/>
          <p:cNvSpPr/>
          <p:nvPr/>
        </p:nvSpPr>
        <p:spPr>
          <a:xfrm>
            <a:off x="7406640" y="1828800"/>
            <a:ext cx="4206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6FD8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7772400" y="30632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architectures pré-entraînées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comparées sur une même tâche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863840" y="4114800"/>
            <a:ext cx="329184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7772400" y="429768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: Cats vs Dogs (TFDS)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23 262 images couleur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par Ordinateur — TP2 Partie 2 · Exercice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Préparation</a:t>
            </a:r>
            <a:endParaRPr lang="en-US" sz="3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données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Chargement, redimensionnement et découpage du dataset Cats vs Dogs avant l'entraînement des modèles.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17720" y="50292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617720" y="502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212080" y="45720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Chargement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212080" y="795528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“cats_vs_dogs” via TensorFlow Datasets (TFDS)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17720" y="155448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617720" y="1554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12080" y="150876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Redimensionnement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12080" y="1847088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images ramenées à 224 × 224 px, normalisation des pixels entre 0 et 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17720" y="260604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617720" y="2606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12080" y="256032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Découpage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212080" y="2898648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en trois ensembles : entraînement, validation, test (sous-échantillon utilisé pour accélérer l'entraînement sur Colab)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17720" y="365760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617720" y="3657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12080" y="361188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du pipeline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212080" y="3950208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batch (BATCH_SIZE = 16) et prefetch pour accélérer le chargement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par Ordinateur — TP2 Partie 2 · Exercice 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Vérification visuelle des données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que les images et leurs labels (cat/dog) correspondent après le prétraitement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576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blurRad="63500" dist="25400" dir="5400000" algn="bl" rotWithShape="0">
              <a:srgbClr val="80808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5" name="Image 0" descr="/home/claude/report_media/image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1645920"/>
            <a:ext cx="3383280" cy="28757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52120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Chargement du dataset et vérification des images/labels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480560" y="1463040"/>
            <a:ext cx="36576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blurRad="63500" dist="25400" dir="5400000" algn="bl" rotWithShape="0">
              <a:srgbClr val="80808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8" name="Image 1" descr="/home/claude/report_media/image2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17720" y="1645920"/>
            <a:ext cx="3383280" cy="28757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17720" y="52120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 classes et noms des classes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8412480" y="1463040"/>
            <a:ext cx="36576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blurRad="63500" dist="25400" dir="5400000" algn="bl" rotWithShape="0">
              <a:srgbClr val="80808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1" name="Image 2" descr="/home/claude/report_media/image3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549640" y="1645920"/>
            <a:ext cx="3383280" cy="28757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549640" y="52120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finale des classes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par Ordinateur — TP2 Partie 2 · Exercice 2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Construction des architectures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5394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Couches convolutionnelles gelées (trainable = False) pour conserver les features apprises sur ImageNet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Tête de classification ajoutée : GlobalAveragePooling2D → Dense(128, relu) → Dropout(0.3) → Dense(1, sigmoid)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: optimiseur Adam (learning rate = 1e-4), perte binary_crossentropy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3703320"/>
            <a:ext cx="53949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blurRad="63500" dist="25400" dir="5400000" algn="bl" rotWithShape="0">
              <a:srgbClr val="80808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5" name="Image 0" descr="/home/claude/report_media/image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3840480"/>
            <a:ext cx="5120640" cy="2377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09360" y="1143000"/>
            <a:ext cx="53492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blurRad="63500" dist="25400" dir="5400000" algn="bl" rotWithShape="0">
              <a:srgbClr val="80808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7" name="Image 1" descr="/home/claude/report_media/image5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46520" y="1325880"/>
            <a:ext cx="5074920" cy="17830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09360" y="333756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Téléchargement des poids ImageNet pré-entraînés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6309360" y="3977640"/>
            <a:ext cx="53492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blurRad="63500" dist="25400" dir="5400000" algn="bl" rotWithShape="0">
              <a:srgbClr val="80808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0" name="Image 2" descr="/home/claude/report_media/image6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446520" y="4114800"/>
            <a:ext cx="5074920" cy="19659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309360" y="6108192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préparation par modèle + callback EarlyStopping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par Ordinateur — TP2 Partie 2 · Exercice 2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Entraînement des modèles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65176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0808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77724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31520" y="25146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horizontal, rotation, zoom — appliqués uniquement sur le jeu d'entraînement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29000" y="1280160"/>
            <a:ext cx="265176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0808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657600" y="1508760"/>
            <a:ext cx="457200" cy="457200"/>
          </a:xfrm>
          <a:prstGeom prst="ellipse">
            <a:avLst/>
          </a:prstGeom>
          <a:solidFill>
            <a:srgbClr val="6FD8C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65760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11880" y="2103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spécifique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611880" y="25146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preprocess_input propre à chaque architecture (VGG16, MobileNetV2, ResNet50, EfficientNetB0)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09360" y="1280160"/>
            <a:ext cx="265176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0808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6537960" y="1508760"/>
            <a:ext cx="457200" cy="457200"/>
          </a:xfrm>
          <a:prstGeom prst="ellipse">
            <a:avLst/>
          </a:prstGeom>
          <a:solidFill>
            <a:srgbClr val="1331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53796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0" y="2103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92240" y="25146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EarlyStopping (patience=3, restauration des meilleurs poids) + ModelCheckpoint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189720" y="1280160"/>
            <a:ext cx="265176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0808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9418320" y="1508760"/>
            <a:ext cx="457200" cy="457200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94183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372600" y="2103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Entraînement séquentiel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372600" y="25146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modèle entraîné individuellement pour limiter la consommation de RAM sur Colab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3703320"/>
            <a:ext cx="11064240" cy="26060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0808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4" name="Image 0" descr="/home/claude/report_media/image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63040" y="3886200"/>
            <a:ext cx="9235440" cy="219456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 l'entraînement (epochs, accuracy, loss) pour l'ensemble des modèles — convergence satisfaisante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par Ordinateur — TP2 Partie 2 · Exercice 2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Évaluation sur le jeu de test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 calculées pour chacun des quatre modèles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8512869"/>
              </p:ext>
            </p:extLst>
          </p:nvPr>
        </p:nvGraphicFramePr>
        <p:xfrm>
          <a:off x="649995" y="1746175"/>
          <a:ext cx="10664330" cy="1774265"/>
        </p:xfrm>
        <a:graphic>
          <a:graphicData uri="http://schemas.openxmlformats.org/drawingml/2006/table">
            <a:tbl>
              <a:tblPr/>
              <a:tblGrid>
                <a:gridCol w="2221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8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8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85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85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885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48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Modèle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85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VGG16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0.9761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85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MobileNetV2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9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9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9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9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0.9872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9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9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85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85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EfficientNetB0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8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8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8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8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8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2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D8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16052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6FD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EfficientNetB0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obtient les meilleurs résultats globaux (accuracy = 0.9923, F1 = 0.9924, AUC = 0.9994), suivi de près par ResNet50. VGG16 obtient les résultats les plus faibles, tout en restant très performant dans l'absolu.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5486400"/>
            <a:ext cx="11064240" cy="1005840"/>
          </a:xfrm>
          <a:prstGeom prst="rect">
            <a:avLst/>
          </a:prstGeom>
          <a:solidFill>
            <a:srgbClr val="13315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/home/claude/report_media/image8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97280" y="5577840"/>
            <a:ext cx="10058400" cy="822960"/>
          </a:xfrm>
          <a:prstGeom prst="rect">
            <a:avLst/>
          </a:prstGeom>
        </p:spPr>
      </p:pic>
      <p:sp>
        <p:nvSpPr>
          <p:cNvPr id="4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par Ordinateur — TP2 Partie 2 · Exercice 2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Comparaison visuelle des performances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comparatif, courbes ROC et accuracy sur le jeu de test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880360" y="1417320"/>
            <a:ext cx="6400800" cy="5029200"/>
          </a:xfrm>
          <a:prstGeom prst="rect">
            <a:avLst/>
          </a:prstGeom>
          <a:solidFill>
            <a:srgbClr val="F4F7F9"/>
          </a:solidFill>
          <a:ln/>
          <a:effectLst>
            <a:outerShdw blurRad="63500" dist="25400" dir="5400000" algn="bl" rotWithShape="0">
              <a:srgbClr val="80808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5" name="Image 0" descr="/home/claude/report_media/image9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63240" y="1554480"/>
            <a:ext cx="6035040" cy="4754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par Ordinateur — TP2 Partie 2 · Exercice 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des erreurs de classification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4206240" cy="50292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0808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4" name="Image 0" descr="/home/claude/report_media/image1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7240" y="1371600"/>
            <a:ext cx="3749040" cy="3611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507492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 d'images mal classées (label réel vs prédit)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029200" y="123444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ambigus identifiés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29200" y="1691640"/>
            <a:ext cx="6583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Animaux partiellement cachés dans l'image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Postures inhabituelles de l'animal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Présence simultanée d'un chat et d'un chien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0" y="292608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Ces erreurs illustrent les limites du dataset, plutôt qu'une faiblesse spécifique à un modèle.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029200" y="361188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Pistes d'amélioration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029200" y="4023360"/>
            <a:ext cx="65836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500"/>
              </a:spcAft>
              <a:buSzPct val="100000"/>
              <a:buChar char="▸"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partiel des dernières couches convolutionnelles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500"/>
              </a:spcAft>
              <a:buSzPct val="100000"/>
              <a:buChar char="▸"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du dataset (retrait/ré-étiquetage des images ambiguës)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500"/>
              </a:spcAft>
              <a:buSzPct val="100000"/>
              <a:buChar char="▸"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de données plus poussée (luminosité, contraste, recadrages)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500"/>
              </a:spcAft>
              <a:buSzPct val="100000"/>
              <a:buChar char="▸"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 d'entraînement complet (100% au lieu d'un sous-échantillon)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500"/>
              </a:spcAft>
              <a:buSzPct val="100000"/>
              <a:buChar char="▸"/>
            </a:pPr>
            <a:r>
              <a:rPr lang="en-US" sz="125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Ensembling entre EfficientNetB0 et ResNet50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par Ordinateur — TP2 Partie 2 · Exercice 2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Précision, vitesse et taille des modèles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566160" y="1188720"/>
            <a:ext cx="5029200" cy="3063240"/>
          </a:xfrm>
          <a:prstGeom prst="rect">
            <a:avLst/>
          </a:prstGeom>
          <a:solidFill>
            <a:srgbClr val="F4F7F9"/>
          </a:solidFill>
          <a:ln/>
          <a:effectLst>
            <a:outerShdw blurRad="63500" dist="25400" dir="5400000" algn="bl" rotWithShape="0">
              <a:srgbClr val="80808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4" name="Image 0" descr="/home/claude/report_media/image1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703320" y="1325880"/>
            <a:ext cx="4754880" cy="2788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4572000"/>
            <a:ext cx="5349240" cy="914400"/>
          </a:xfrm>
          <a:prstGeom prst="rect">
            <a:avLst/>
          </a:prstGeom>
          <a:solidFill>
            <a:srgbClr val="F4F7F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548640" y="4572000"/>
            <a:ext cx="109728" cy="914400"/>
          </a:xfrm>
          <a:prstGeom prst="rect">
            <a:avLst/>
          </a:prstGeom>
          <a:solidFill>
            <a:srgbClr val="6FD8C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822960" y="4626864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495604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plus léger : 11,06 Mo, 2,42M paramètres — idéal pour un déploiement mobile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172200" y="4572000"/>
            <a:ext cx="5349240" cy="914400"/>
          </a:xfrm>
          <a:prstGeom prst="rect">
            <a:avLst/>
          </a:prstGeom>
          <a:solidFill>
            <a:srgbClr val="F4F7F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6172200" y="4572000"/>
            <a:ext cx="109728" cy="9144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6446520" y="4626864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EfficientNetB0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46520" y="495604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 compromis entre précision et taille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48640" y="5623560"/>
            <a:ext cx="5349240" cy="914400"/>
          </a:xfrm>
          <a:prstGeom prst="rect">
            <a:avLst/>
          </a:prstGeom>
          <a:solidFill>
            <a:srgbClr val="F4F7F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1"/>
          <p:cNvSpPr/>
          <p:nvPr/>
        </p:nvSpPr>
        <p:spPr>
          <a:xfrm>
            <a:off x="548640" y="5623560"/>
            <a:ext cx="109728" cy="914400"/>
          </a:xfrm>
          <a:prstGeom prst="rect">
            <a:avLst/>
          </a:prstGeom>
          <a:solidFill>
            <a:srgbClr val="1331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822960" y="5678424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22960" y="600760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plus lourd (93,62 Mo) pour une performance proche des deux précédents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172200" y="5623560"/>
            <a:ext cx="5349240" cy="914400"/>
          </a:xfrm>
          <a:prstGeom prst="rect">
            <a:avLst/>
          </a:prstGeom>
          <a:solidFill>
            <a:srgbClr val="F4F7F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5"/>
          <p:cNvSpPr/>
          <p:nvPr/>
        </p:nvSpPr>
        <p:spPr>
          <a:xfrm>
            <a:off x="6172200" y="5623560"/>
            <a:ext cx="109728" cy="9144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6"/>
          <p:cNvSpPr/>
          <p:nvPr/>
        </p:nvSpPr>
        <p:spPr>
          <a:xfrm>
            <a:off x="6446520" y="5678424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VGG16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46520" y="600760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ancien, compétitif mais moins efficace que les architectures récentes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par Ordinateur — TP2 Partie 2 · Exercice 2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Visualisation des feature maps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Première couche convolutionnelle de VGG16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0808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5" name="Image 0" descr="/home/claude/report_media/image1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1600200"/>
            <a:ext cx="10515600" cy="2743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75488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première couche détecte des caractéristiques de bas niveau : contours du visage, zones de fort contraste (yeux), et transitions de texture entre le pelage et l'arrière-plan. Ces détecteurs élémentaires servent de base aux couches plus profondes pour construire des représentations plus abstraites.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par Ordinateur — TP2 Partie 2 · Exercice 2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10789920" y="-1371600"/>
            <a:ext cx="3200400" cy="320040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6675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quatre architectures atteignent des performances très élevées </a:t>
            </a:r>
            <a:r>
              <a:rPr lang="en-US" sz="1600" b="1" dirty="0">
                <a:solidFill>
                  <a:srgbClr val="6FD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(accuracy &gt; 98%)</a:t>
            </a: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avec </a:t>
            </a:r>
            <a:r>
              <a:rPr lang="en-US" sz="1600" b="1" dirty="0">
                <a:solidFill>
                  <a:srgbClr val="6FD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EfficientNetB0</a:t>
            </a: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tête sur la majorité des métriques.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6675120" cy="960120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7" name="Text 5"/>
          <p:cNvSpPr/>
          <p:nvPr/>
        </p:nvSpPr>
        <p:spPr>
          <a:xfrm>
            <a:off x="1005840" y="3291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FD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EfficientNetB0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365760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meilleure précision globale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4389120"/>
            <a:ext cx="6675120" cy="960120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1005840" y="4480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FD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484632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légèreté &amp; vitesse d'inférence — idéal en contexte mobile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63840" y="1554480"/>
            <a:ext cx="3749040" cy="4480560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3" name="Text 11"/>
          <p:cNvSpPr/>
          <p:nvPr/>
        </p:nvSpPr>
        <p:spPr>
          <a:xfrm>
            <a:off x="8138160" y="18288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6FD8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98%+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138160" y="25146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pour les 4 modèles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38160" y="32461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6FD8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0.999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138160" y="39319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max (EfficientNetB0)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38160" y="46634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6FD8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Mo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8138160" y="53492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taille du modèle le plus léger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par Ordinateur — TP2 Partie 2 · Exercice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</TotalTime>
  <Words>888</Words>
  <Application>Microsoft Office PowerPoint</Application>
  <PresentationFormat>Grand écran</PresentationFormat>
  <Paragraphs>164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Sanaa lazrag</cp:lastModifiedBy>
  <cp:revision>4</cp:revision>
  <dcterms:created xsi:type="dcterms:W3CDTF">2026-07-12T14:55:43Z</dcterms:created>
  <dcterms:modified xsi:type="dcterms:W3CDTF">2026-07-12T15:23:52Z</dcterms:modified>
</cp:coreProperties>
</file>